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7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7:22:29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7:20:35.0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3456 0 23699,'-3456'1582'0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7:20:39.7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24575,'87'-1'0,"0"4"0,115 19 0,-152-15 0,0-2 0,53-3 0,27 3 0,-108-3 0,0 2 0,0 0 0,0 2 0,26 10 0,-47-16 0,0 0 0,0 1 0,1-1 0,-1 1 0,0-1 0,0 1 0,1-1 0,-1 1 0,0 0 0,0 0 0,0 0 0,0-1 0,0 1 0,0 0 0,0 0 0,-1 0 0,1 0 0,0 1 0,0 0 0,-1-1 0,0 0 0,0 0 0,0-1 0,0 1 0,0 0 0,-1 0 0,1-1 0,0 1 0,0 0 0,-1-1 0,1 1 0,-1 0 0,1-1 0,-1 1 0,1-1 0,-1 1 0,1-1 0,-1 1 0,1-1 0,-1 1 0,0-1 0,1 1 0,-1-1 0,0 1 0,-53 20 0,50-20 0,-127 32 0,90-24 0,-1 1 0,2 2 0,-1 2 0,-42 21 0,18-4-1365,37-20-5461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7:22:35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7:22:54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7:22:55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7:22:56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7:22:56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7:22:57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7:22:57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7:22:57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7:23:02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7:23:04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7:23:05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7:23:06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7:23:07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7:23:07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7:23:07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7:23:08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0F230-5CE5-47D0-8D93-00A0CB783646}" type="datetimeFigureOut">
              <a:rPr lang="en-ZA" smtClean="0"/>
              <a:t>2026/06/25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48B3A-8E81-4E82-8BE2-7B48CBA8195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7987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48B3A-8E81-4E82-8BE2-7B48CBA81957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6261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4B527-4752-7DD3-C6A7-E4EF4316D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36D11A-BE56-9B57-E458-C52E8C245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B4DCB-F06B-7972-5663-53DCD06E9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832A-CF07-4667-9910-577C7AE102BA}" type="datetimeFigureOut">
              <a:rPr lang="en-ZA" smtClean="0"/>
              <a:t>2026/06/25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086B5-ABB5-C4C8-2F9E-EC36A601C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EA46F-904E-E9A1-89BF-6CC88AA6E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4B527-8BFC-48BD-BE0E-C2BA23A1E76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98524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61995-7C12-2275-4109-0799E25B0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8FCCE-E8F1-4001-9F98-006435E76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9D88D-C092-082A-D34E-830E4F288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832A-CF07-4667-9910-577C7AE102BA}" type="datetimeFigureOut">
              <a:rPr lang="en-ZA" smtClean="0"/>
              <a:t>2026/06/25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2FB30-7309-2700-BC01-1709664E1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5ADF0-24AF-A45A-EFED-29657C921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4B527-8BFC-48BD-BE0E-C2BA23A1E76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62450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5AF9-CC06-6BD1-EFE5-38158B80A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5C22B-6A54-8DEF-2009-6E348D0F1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D8E20-95AF-E711-E8EE-14C5517AA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832A-CF07-4667-9910-577C7AE102BA}" type="datetimeFigureOut">
              <a:rPr lang="en-ZA" smtClean="0"/>
              <a:t>2026/06/25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21150-C88E-5710-D406-D46F76834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37763-2BDB-2482-40D0-0766D7381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4B527-8BFC-48BD-BE0E-C2BA23A1E76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31040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583AB-4F56-C453-D642-15B0F2D9A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047E3-E7ED-2065-404C-9BE7FF886F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4D707-1740-D29D-1878-61AEB0F19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9B07E-05F6-02ED-58B0-9337C4B8D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832A-CF07-4667-9910-577C7AE102BA}" type="datetimeFigureOut">
              <a:rPr lang="en-ZA" smtClean="0"/>
              <a:t>2026/06/25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05725-9970-BC3A-4CA8-B9B11EF1C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1D077-EF10-1A5D-5E30-8835DD25C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4B527-8BFC-48BD-BE0E-C2BA23A1E76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3494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D8EAE-0621-D873-EA7D-2A791722D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E95C-54A3-AE35-E30B-DD569BC42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3EC67-8893-8C55-45BD-3002735C4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7C1C69-D3E8-9407-0A4B-261DFBEC20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7F7CFD-41AE-C3E0-2E15-71FCADDE11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9CB929-3E0E-14C4-166B-658DCD7D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832A-CF07-4667-9910-577C7AE102BA}" type="datetimeFigureOut">
              <a:rPr lang="en-ZA" smtClean="0"/>
              <a:t>2026/06/25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866101-DA01-98DF-D50E-2A41CE360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AF22C6-A8B2-4BE4-AC39-714C47E1D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4B527-8BFC-48BD-BE0E-C2BA23A1E76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39620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480F8-4F8D-3073-5304-B6D412E29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D8BDD-7C93-316D-2207-E02749527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832A-CF07-4667-9910-577C7AE102BA}" type="datetimeFigureOut">
              <a:rPr lang="en-ZA" smtClean="0"/>
              <a:t>2026/06/25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C9CDC-1C67-FF62-D37E-1116386A7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CD716-2E36-64BE-49E9-7E3F0ABDD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4B527-8BFC-48BD-BE0E-C2BA23A1E76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19954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69B0C4-11E3-820C-6A8C-A93D1D856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832A-CF07-4667-9910-577C7AE102BA}" type="datetimeFigureOut">
              <a:rPr lang="en-ZA" smtClean="0"/>
              <a:t>2026/06/25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987ADB-DB02-4D8D-1206-1C161A00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A507B-F40C-CA19-A6F0-0BB4816BA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4B527-8BFC-48BD-BE0E-C2BA23A1E76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28414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B7004-5362-F0B1-3B3B-C741FFC20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B1FD4-7CE9-E30A-89B9-430D17B8F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BC009-D835-2BBA-157A-3C74FC0C6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8586E-7906-7AF6-D0C0-63E686166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832A-CF07-4667-9910-577C7AE102BA}" type="datetimeFigureOut">
              <a:rPr lang="en-ZA" smtClean="0"/>
              <a:t>2026/06/25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EBCE3-49C1-5C79-6388-82A50EFAB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45E8D-D90A-7E70-9C2E-F6CE6668B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4B527-8BFC-48BD-BE0E-C2BA23A1E76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39905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DBC19-9301-0745-8104-5CF0585C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B03ADE-6B93-C954-9CB8-B4C0A61011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667C7-87DB-ABCF-AE06-9F543BB9A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7D264-0B73-CEF9-FE12-C6FB28395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832A-CF07-4667-9910-577C7AE102BA}" type="datetimeFigureOut">
              <a:rPr lang="en-ZA" smtClean="0"/>
              <a:t>2026/06/25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599B4-03E1-C6B7-637A-FDD4C0066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5CBE2-2570-099D-A038-F68784BF1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4B527-8BFC-48BD-BE0E-C2BA23A1E76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5165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F256E-6010-B900-BFA9-9B08AF347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5D3A3F-937B-A748-7197-49DB3B4450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23983-18EA-57E1-CACC-9A9B8650B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832A-CF07-4667-9910-577C7AE102BA}" type="datetimeFigureOut">
              <a:rPr lang="en-ZA" smtClean="0"/>
              <a:t>2026/06/25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240E9-1CDD-29DC-CD23-3FB3421A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5FE60-5799-C1C3-6E03-9D244C88D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4B527-8BFC-48BD-BE0E-C2BA23A1E76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76034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E48680-3D74-A278-A87E-BF540C05FA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B91D3D-99D5-3034-812E-FAE8E4B60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3CDA8-AF12-CD33-7890-8D7D5D0A9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832A-CF07-4667-9910-577C7AE102BA}" type="datetimeFigureOut">
              <a:rPr lang="en-ZA" smtClean="0"/>
              <a:t>2026/06/25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AF77C-056B-A7C7-EFEF-759300E72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F77B8-F9B5-DE35-6BDC-86F6706AE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4B527-8BFC-48BD-BE0E-C2BA23A1E76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49913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F51310-8157-FF98-BABD-B07B63862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6DB84-5898-84CF-8DD9-05D3221F0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AC3BA-86A0-93BD-BE77-8DF26888C1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3E832A-CF07-4667-9910-577C7AE102BA}" type="datetimeFigureOut">
              <a:rPr lang="en-ZA" smtClean="0"/>
              <a:t>2026/06/25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A9628-BABB-87EF-B675-6494D935CB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2A622-B51A-6394-5C42-A842A25FF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A4B527-8BFC-48BD-BE0E-C2BA23A1E76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8994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slideLayout" Target="../slideLayouts/slideLayout9.xml"/><Relationship Id="rId7" Type="http://schemas.openxmlformats.org/officeDocument/2006/relationships/customXml" Target="../ink/ink3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40.png"/><Relationship Id="rId5" Type="http://schemas.openxmlformats.org/officeDocument/2006/relationships/customXml" Target="../ink/ink2.xml"/><Relationship Id="rId4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customXml" Target="../ink/ink11.xml"/><Relationship Id="rId18" Type="http://schemas.openxmlformats.org/officeDocument/2006/relationships/customXml" Target="../ink/ink16.xml"/><Relationship Id="rId3" Type="http://schemas.openxmlformats.org/officeDocument/2006/relationships/slideLayout" Target="../slideLayouts/slideLayout9.xml"/><Relationship Id="rId21" Type="http://schemas.openxmlformats.org/officeDocument/2006/relationships/customXml" Target="../ink/ink19.xml"/><Relationship Id="rId7" Type="http://schemas.openxmlformats.org/officeDocument/2006/relationships/customXml" Target="../ink/ink5.xml"/><Relationship Id="rId12" Type="http://schemas.openxmlformats.org/officeDocument/2006/relationships/customXml" Target="../ink/ink10.xml"/><Relationship Id="rId17" Type="http://schemas.openxmlformats.org/officeDocument/2006/relationships/customXml" Target="../ink/ink15.xml"/><Relationship Id="rId2" Type="http://schemas.openxmlformats.org/officeDocument/2006/relationships/video" Target="../media/media4.mp4"/><Relationship Id="rId16" Type="http://schemas.openxmlformats.org/officeDocument/2006/relationships/customXml" Target="../ink/ink14.xml"/><Relationship Id="rId20" Type="http://schemas.openxmlformats.org/officeDocument/2006/relationships/customXml" Target="../ink/ink18.xml"/><Relationship Id="rId1" Type="http://schemas.microsoft.com/office/2007/relationships/media" Target="../media/media4.mp4"/><Relationship Id="rId6" Type="http://schemas.openxmlformats.org/officeDocument/2006/relationships/image" Target="../media/image1.png"/><Relationship Id="rId11" Type="http://schemas.openxmlformats.org/officeDocument/2006/relationships/customXml" Target="../ink/ink9.xml"/><Relationship Id="rId5" Type="http://schemas.openxmlformats.org/officeDocument/2006/relationships/customXml" Target="../ink/ink4.xml"/><Relationship Id="rId15" Type="http://schemas.openxmlformats.org/officeDocument/2006/relationships/customXml" Target="../ink/ink13.xml"/><Relationship Id="rId10" Type="http://schemas.openxmlformats.org/officeDocument/2006/relationships/customXml" Target="../ink/ink8.xml"/><Relationship Id="rId19" Type="http://schemas.openxmlformats.org/officeDocument/2006/relationships/customXml" Target="../ink/ink17.xml"/><Relationship Id="rId4" Type="http://schemas.openxmlformats.org/officeDocument/2006/relationships/image" Target="../media/image7.png"/><Relationship Id="rId9" Type="http://schemas.openxmlformats.org/officeDocument/2006/relationships/customXml" Target="../ink/ink7.xml"/><Relationship Id="rId14" Type="http://schemas.openxmlformats.org/officeDocument/2006/relationships/customXml" Target="../ink/ink12.xml"/><Relationship Id="rId22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9.mp4"/><Relationship Id="rId1" Type="http://schemas.microsoft.com/office/2007/relationships/media" Target="../media/media9.mp4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D0C5F-7E2B-8D41-0C1E-D6F8858F8E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Cybersecurity Awareness Chatbot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20A2B-807C-2AB6-9D7E-902F38DB19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/>
              <a:t>Boikanyo Maleka</a:t>
            </a:r>
          </a:p>
          <a:p>
            <a:r>
              <a:rPr lang="en-ZA" dirty="0"/>
              <a:t>ST10472664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BBBE6B5-D1C3-B83A-F032-C18E8272120B}"/>
                  </a:ext>
                </a:extLst>
              </p14:cNvPr>
              <p14:cNvContentPartPr/>
              <p14:nvPr/>
            </p14:nvContentPartPr>
            <p14:xfrm>
              <a:off x="3912403" y="3207848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BBBE6B5-D1C3-B83A-F032-C18E8272120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03763" y="3199208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Video 10">
            <a:hlinkClick r:id="" action="ppaction://media"/>
            <a:extLst>
              <a:ext uri="{FF2B5EF4-FFF2-40B4-BE49-F238E27FC236}">
                <a16:creationId xmlns:a16="http://schemas.microsoft.com/office/drawing/2014/main" id="{CE9C177A-3075-3ADB-E3D5-C8E1779474F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6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66354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747"/>
    </mc:Choice>
    <mc:Fallback>
      <p:transition spd="slow" advTm="287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8D3779-1A20-FE5E-3327-DCC53BDCD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ZA" dirty="0"/>
              <a:t>The Speech Synthesis Queue</a:t>
            </a:r>
            <a:endParaRPr lang="en-US" sz="54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0FDCE0B-1713-1278-DE15-DF508A55662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44" r="14445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3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005CA-0381-AA7B-7E84-FA8F113DC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/>
              <a:t>Checks a </a:t>
            </a:r>
            <a:r>
              <a:rPr lang="en-ZA" sz="2000" dirty="0" err="1"/>
              <a:t>boolean</a:t>
            </a:r>
            <a:r>
              <a:rPr lang="en-ZA" sz="2000" dirty="0"/>
              <a:t> flag (</a:t>
            </a:r>
            <a:r>
              <a:rPr lang="en-ZA" sz="2000" dirty="0" err="1"/>
              <a:t>isSpeaking</a:t>
            </a:r>
            <a:r>
              <a:rPr lang="en-ZA" sz="2000" dirty="0"/>
              <a:t>) to see if the bot is currently talking.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/>
              <a:t>If busy, enqueues the text into a Queue&lt;string&gt;.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/>
              <a:t>Uses a </a:t>
            </a:r>
            <a:r>
              <a:rPr lang="en-ZA" sz="2000" dirty="0" err="1"/>
              <a:t>SpeakCompleted</a:t>
            </a:r>
            <a:r>
              <a:rPr lang="en-ZA" sz="2000" dirty="0"/>
              <a:t> event handler to process the queue sequentially.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10" name="Video 9">
            <a:hlinkClick r:id="" action="ppaction://media"/>
            <a:extLst>
              <a:ext uri="{FF2B5EF4-FFF2-40B4-BE49-F238E27FC236}">
                <a16:creationId xmlns:a16="http://schemas.microsoft.com/office/drawing/2014/main" id="{9AB6F87D-340D-33ED-4A88-96E74FCCD95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74822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283"/>
    </mc:Choice>
    <mc:Fallback>
      <p:transition spd="slow" advTm="192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0EF0A8-D23E-9C40-3D1B-5A3A0571B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ZA" dirty="0"/>
              <a:t>Capturing and Routing User Input</a:t>
            </a:r>
            <a:endParaRPr lang="en-US" sz="5400" dirty="0"/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80CAF-26EB-D4E2-32D8-21E5AE365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Validates input to reject empty strings.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Updates the UI </a:t>
            </a:r>
            <a:r>
              <a:rPr lang="en-ZA" dirty="0" err="1"/>
              <a:t>TextBox</a:t>
            </a:r>
            <a:r>
              <a:rPr lang="en-ZA" dirty="0"/>
              <a:t> (appends user text, clears input).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Passes the string to </a:t>
            </a:r>
            <a:r>
              <a:rPr lang="en-ZA" dirty="0" err="1"/>
              <a:t>bot.GetResponse</a:t>
            </a:r>
            <a:r>
              <a:rPr lang="en-ZA" dirty="0"/>
              <a:t>().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Updates the UI with the bot's response and triggers the speech queue.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BD49B52-E6C5-7065-D951-DE3770830B9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6" r="-2" b="626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AFD9173-640E-04CE-7AD5-FB7C22A60821}"/>
                  </a:ext>
                </a:extLst>
              </p14:cNvPr>
              <p14:cNvContentPartPr/>
              <p14:nvPr/>
            </p14:nvContentPartPr>
            <p14:xfrm>
              <a:off x="4931923" y="4227008"/>
              <a:ext cx="1244520" cy="5698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AFD9173-640E-04CE-7AD5-FB7C22A6082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25803" y="4220888"/>
                <a:ext cx="1256760" cy="58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3B4C1F5-FFF8-DF49-E00A-7AA431A170EB}"/>
                  </a:ext>
                </a:extLst>
              </p14:cNvPr>
              <p14:cNvContentPartPr/>
              <p14:nvPr/>
            </p14:nvContentPartPr>
            <p14:xfrm>
              <a:off x="6041083" y="4196768"/>
              <a:ext cx="312120" cy="102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3B4C1F5-FFF8-DF49-E00A-7AA431A170E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34963" y="4190648"/>
                <a:ext cx="324360" cy="1152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Video 6">
            <a:hlinkClick r:id="" action="ppaction://media"/>
            <a:extLst>
              <a:ext uri="{FF2B5EF4-FFF2-40B4-BE49-F238E27FC236}">
                <a16:creationId xmlns:a16="http://schemas.microsoft.com/office/drawing/2014/main" id="{3E35F1BD-00AE-A935-A76B-D8F5A873B57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9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01637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514"/>
    </mc:Choice>
    <mc:Fallback>
      <p:transition spd="slow" advTm="215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A841F-1AE5-ED90-CE21-65E15517D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ZA"/>
              <a:t>Natural Language Processing Router</a:t>
            </a:r>
            <a:endParaRPr lang="en-US" sz="540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D65D43E-B493-C6AE-433D-55034697C91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30" b="20257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D3640-4D7E-3A00-6239-B141D6955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Acts as the central "traffic cop" for all incoming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Uses a cascading series of conditional checks.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Checks system commands first, then user memory, then feature commands.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Falls back to semantic analysis if no hard commands are matched.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8819E55-0803-8701-9527-4D25ECAF6AD3}"/>
                  </a:ext>
                </a:extLst>
              </p14:cNvPr>
              <p14:cNvContentPartPr/>
              <p14:nvPr/>
            </p14:nvContentPartPr>
            <p14:xfrm>
              <a:off x="7014883" y="1633857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8819E55-0803-8701-9527-4D25ECAF6AD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06243" y="1625217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A653D0C2-9056-1A44-F2B8-4DBE20DE8649}"/>
              </a:ext>
            </a:extLst>
          </p:cNvPr>
          <p:cNvGrpSpPr/>
          <p:nvPr/>
        </p:nvGrpSpPr>
        <p:grpSpPr>
          <a:xfrm>
            <a:off x="6235843" y="1139217"/>
            <a:ext cx="360" cy="360"/>
            <a:chOff x="6235843" y="1139217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5EE2CE5-92F2-7A7B-F6F1-0A35D0709613}"/>
                    </a:ext>
                  </a:extLst>
                </p14:cNvPr>
                <p14:cNvContentPartPr/>
                <p14:nvPr/>
              </p14:nvContentPartPr>
              <p14:xfrm>
                <a:off x="6235843" y="1139217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5EE2CE5-92F2-7A7B-F6F1-0A35D070961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227203" y="113057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3FDA300-39DF-E432-F697-E62498BC0EC4}"/>
                    </a:ext>
                  </a:extLst>
                </p14:cNvPr>
                <p14:cNvContentPartPr/>
                <p14:nvPr/>
              </p14:nvContentPartPr>
              <p14:xfrm>
                <a:off x="6235843" y="1139217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3FDA300-39DF-E432-F697-E62498BC0EC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227203" y="113057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4AB4657-A9B0-03BF-C9A4-527A8809030F}"/>
              </a:ext>
            </a:extLst>
          </p:cNvPr>
          <p:cNvGrpSpPr/>
          <p:nvPr/>
        </p:nvGrpSpPr>
        <p:grpSpPr>
          <a:xfrm>
            <a:off x="6415483" y="1439097"/>
            <a:ext cx="360" cy="360"/>
            <a:chOff x="6415483" y="1439097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CB06497-E253-7E1B-4BFA-382CB18CB1B3}"/>
                    </a:ext>
                  </a:extLst>
                </p14:cNvPr>
                <p14:cNvContentPartPr/>
                <p14:nvPr/>
              </p14:nvContentPartPr>
              <p14:xfrm>
                <a:off x="6415483" y="1439097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CB06497-E253-7E1B-4BFA-382CB18CB1B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06843" y="143009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C392742-5BFA-281B-D5E5-3F4ACFF66103}"/>
                    </a:ext>
                  </a:extLst>
                </p14:cNvPr>
                <p14:cNvContentPartPr/>
                <p14:nvPr/>
              </p14:nvContentPartPr>
              <p14:xfrm>
                <a:off x="6415483" y="1439097"/>
                <a:ext cx="3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C392742-5BFA-281B-D5E5-3F4ACFF6610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06843" y="143009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4D333C9-3A6E-0F87-06DA-728819EF3036}"/>
                    </a:ext>
                  </a:extLst>
                </p14:cNvPr>
                <p14:cNvContentPartPr/>
                <p14:nvPr/>
              </p14:nvContentPartPr>
              <p14:xfrm>
                <a:off x="6415483" y="1439097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4D333C9-3A6E-0F87-06DA-728819EF303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06843" y="143009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5AEC716-47B0-0600-E2F9-615954B833D4}"/>
                    </a:ext>
                  </a:extLst>
                </p14:cNvPr>
                <p14:cNvContentPartPr/>
                <p14:nvPr/>
              </p14:nvContentPartPr>
              <p14:xfrm>
                <a:off x="6415483" y="1439097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5AEC716-47B0-0600-E2F9-615954B833D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06843" y="143009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838C129-1499-E6F6-0649-EC37F469062D}"/>
                    </a:ext>
                  </a:extLst>
                </p14:cNvPr>
                <p14:cNvContentPartPr/>
                <p14:nvPr/>
              </p14:nvContentPartPr>
              <p14:xfrm>
                <a:off x="6415483" y="1439097"/>
                <a:ext cx="3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838C129-1499-E6F6-0649-EC37F469062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06843" y="143009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9D60363-4BD6-6F7D-D013-031916076448}"/>
                  </a:ext>
                </a:extLst>
              </p14:cNvPr>
              <p14:cNvContentPartPr/>
              <p14:nvPr/>
            </p14:nvContentPartPr>
            <p14:xfrm>
              <a:off x="8919283" y="1423617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9D60363-4BD6-6F7D-D013-03191607644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10283" y="1414977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C5D3CDEC-764A-5CE3-68EC-390DBF103A9B}"/>
              </a:ext>
            </a:extLst>
          </p:cNvPr>
          <p:cNvGrpSpPr/>
          <p:nvPr/>
        </p:nvGrpSpPr>
        <p:grpSpPr>
          <a:xfrm>
            <a:off x="7105243" y="1783617"/>
            <a:ext cx="360" cy="360"/>
            <a:chOff x="7105243" y="1783617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A92612C-C0BD-138B-65A5-9AA889E169AB}"/>
                    </a:ext>
                  </a:extLst>
                </p14:cNvPr>
                <p14:cNvContentPartPr/>
                <p14:nvPr/>
              </p14:nvContentPartPr>
              <p14:xfrm>
                <a:off x="7105243" y="1783617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A92612C-C0BD-138B-65A5-9AA889E169A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096243" y="177461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7F33FA1-0802-E831-CC45-929D13915B7E}"/>
                    </a:ext>
                  </a:extLst>
                </p14:cNvPr>
                <p14:cNvContentPartPr/>
                <p14:nvPr/>
              </p14:nvContentPartPr>
              <p14:xfrm>
                <a:off x="7105243" y="1783617"/>
                <a:ext cx="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7F33FA1-0802-E831-CC45-929D13915B7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096243" y="177461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4B78C74-F6F7-1750-45FC-D5C2B2254E79}"/>
              </a:ext>
            </a:extLst>
          </p:cNvPr>
          <p:cNvGrpSpPr/>
          <p:nvPr/>
        </p:nvGrpSpPr>
        <p:grpSpPr>
          <a:xfrm>
            <a:off x="8394403" y="1588497"/>
            <a:ext cx="360" cy="360"/>
            <a:chOff x="8394403" y="1588497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E0A82AF-6289-2835-5D8D-98BD0409E55E}"/>
                    </a:ext>
                  </a:extLst>
                </p14:cNvPr>
                <p14:cNvContentPartPr/>
                <p14:nvPr/>
              </p14:nvContentPartPr>
              <p14:xfrm>
                <a:off x="8394403" y="1588497"/>
                <a:ext cx="36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E0A82AF-6289-2835-5D8D-98BD0409E55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85763" y="157985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9525B9C-32EE-E5AF-C667-116CC615C9F2}"/>
                    </a:ext>
                  </a:extLst>
                </p14:cNvPr>
                <p14:cNvContentPartPr/>
                <p14:nvPr/>
              </p14:nvContentPartPr>
              <p14:xfrm>
                <a:off x="8394403" y="1588497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9525B9C-32EE-E5AF-C667-116CC615C9F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85763" y="157985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A12B046-B46A-4B43-9461-2276A63E7BDB}"/>
                    </a:ext>
                  </a:extLst>
                </p14:cNvPr>
                <p14:cNvContentPartPr/>
                <p14:nvPr/>
              </p14:nvContentPartPr>
              <p14:xfrm>
                <a:off x="8394403" y="1588497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A12B046-B46A-4B43-9461-2276A63E7BD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85763" y="157985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FA9EB02-4740-F55F-429C-668B8523BC21}"/>
                    </a:ext>
                  </a:extLst>
                </p14:cNvPr>
                <p14:cNvContentPartPr/>
                <p14:nvPr/>
              </p14:nvContentPartPr>
              <p14:xfrm>
                <a:off x="8394403" y="1588497"/>
                <a:ext cx="36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FA9EB02-4740-F55F-429C-668B8523BC2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85763" y="157985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CC0DC84-117C-5E35-F571-982A31BFF7C5}"/>
                    </a:ext>
                  </a:extLst>
                </p14:cNvPr>
                <p14:cNvContentPartPr/>
                <p14:nvPr/>
              </p14:nvContentPartPr>
              <p14:xfrm>
                <a:off x="8394403" y="1588497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CC0DC84-117C-5E35-F571-982A31BFF7C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85763" y="157985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1" name="Video 10">
            <a:hlinkClick r:id="" action="ppaction://media"/>
            <a:extLst>
              <a:ext uri="{FF2B5EF4-FFF2-40B4-BE49-F238E27FC236}">
                <a16:creationId xmlns:a16="http://schemas.microsoft.com/office/drawing/2014/main" id="{CBC95698-0E2E-6D1C-82B3-6470B8C5C96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22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070829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350"/>
    </mc:Choice>
    <mc:Fallback>
      <p:transition spd="slow" advTm="213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8DEE4-C57D-96E0-E947-29CF94024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Keyword Detection &amp; Sentiment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F03C5-13F5-9A60-1C85-F6B9889A1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2"/>
            <a:ext cx="5157787" cy="1325563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DetectSentiment</a:t>
            </a:r>
            <a:r>
              <a:rPr lang="en-US" dirty="0"/>
              <a:t>: </a:t>
            </a:r>
            <a:r>
              <a:rPr lang="en-US" b="0" dirty="0"/>
              <a:t>Iterates through a dictionary of emotion keywords to return a state (e.g., "concerned").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FindKeywordResponse</a:t>
            </a:r>
            <a:r>
              <a:rPr lang="en-US" dirty="0"/>
              <a:t>: </a:t>
            </a:r>
            <a:r>
              <a:rPr lang="en-US" b="0" dirty="0"/>
              <a:t>Matches input to cybersecurity topics and selects a random response.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B92BAB9-F8DC-61CF-093D-872A7378F5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557" y="3173412"/>
            <a:ext cx="4132248" cy="3684588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9159F8-6085-801A-45FE-522DC3757C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1325562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AddSentimentAdjustment</a:t>
            </a:r>
            <a:r>
              <a:rPr lang="en-US" dirty="0"/>
              <a:t>: </a:t>
            </a:r>
            <a:r>
              <a:rPr lang="en-US" b="0" dirty="0"/>
              <a:t>Prepends an empathetic phrase to the base response based on the detected mood.</a:t>
            </a:r>
            <a:endParaRPr lang="en-ZA" b="0" dirty="0"/>
          </a:p>
          <a:p>
            <a:endParaRPr lang="en-ZA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EDB429B-B964-CBF2-7FCA-C12F7FB9CDF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575" y="3173412"/>
            <a:ext cx="3394630" cy="3684588"/>
          </a:xfrm>
          <a:prstGeom prst="rect">
            <a:avLst/>
          </a:prstGeom>
        </p:spPr>
      </p:pic>
      <p:pic>
        <p:nvPicPr>
          <p:cNvPr id="7" name="Video 6">
            <a:hlinkClick r:id="" action="ppaction://media"/>
            <a:extLst>
              <a:ext uri="{FF2B5EF4-FFF2-40B4-BE49-F238E27FC236}">
                <a16:creationId xmlns:a16="http://schemas.microsoft.com/office/drawing/2014/main" id="{E783CDA7-7292-F1E2-E2F8-5F93A7462B1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6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82993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949"/>
    </mc:Choice>
    <mc:Fallback>
      <p:transition spd="slow" advTm="219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7CBAA3-2238-A2BD-3140-7F0190EA8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ZA" sz="5400" dirty="0"/>
              <a:t>Maintaining Short-Term Memory</a:t>
            </a:r>
            <a:endParaRPr lang="en-US" sz="54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8739236-E5FB-292D-0F74-5D51C93AEA2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" r="3878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0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5548B-09D9-ECD7-65FA-28026CB35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400" dirty="0"/>
              <a:t>Checks the </a:t>
            </a:r>
            <a:r>
              <a:rPr lang="en-ZA" sz="2400" dirty="0" err="1"/>
              <a:t>currentTopic</a:t>
            </a:r>
            <a:r>
              <a:rPr lang="en-ZA" sz="2400" dirty="0"/>
              <a:t> variable set during the previous interaction.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400" dirty="0"/>
              <a:t>Fetches a </a:t>
            </a:r>
            <a:r>
              <a:rPr lang="en-ZA" sz="2400" i="1" dirty="0"/>
              <a:t>new</a:t>
            </a:r>
            <a:r>
              <a:rPr lang="en-ZA" sz="2400" dirty="0"/>
              <a:t> random response from that specific topic's list.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400" dirty="0"/>
              <a:t>Uses a while loop to ensure the new response is not identical to the </a:t>
            </a:r>
            <a:r>
              <a:rPr lang="en-ZA" sz="2400" dirty="0" err="1"/>
              <a:t>lastResponse</a:t>
            </a:r>
            <a:r>
              <a:rPr lang="en-ZA" sz="2400" dirty="0"/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7" name="Video 6">
            <a:hlinkClick r:id="" action="ppaction://media"/>
            <a:extLst>
              <a:ext uri="{FF2B5EF4-FFF2-40B4-BE49-F238E27FC236}">
                <a16:creationId xmlns:a16="http://schemas.microsoft.com/office/drawing/2014/main" id="{24B07C09-9C28-B801-6A43-6AD34D9B999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55377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491"/>
    </mc:Choice>
    <mc:Fallback>
      <p:transition spd="slow" advTm="224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541A0-AEBA-A50D-9887-6AA3C0B9D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ZA" dirty="0"/>
              <a:t>Forcing UI Updates in WPF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CE1781C-84D7-B672-3FD0-D6543A6FC65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94" r="13194"/>
          <a:stretch>
            <a:fillRect/>
          </a:stretch>
        </p:blipFill>
        <p:spPr>
          <a:xfrm>
            <a:off x="630936" y="1269129"/>
            <a:ext cx="5458968" cy="4319742"/>
          </a:xfrm>
          <a:prstGeom prst="rect">
            <a:avLst/>
          </a:prstGeom>
        </p:spPr>
      </p:pic>
      <p:sp>
        <p:nvSpPr>
          <p:cNvPr id="16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B5D4C-2A94-8C81-5EE0-9DB069ED6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39128" y="2664886"/>
            <a:ext cx="4818888" cy="35507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Sets the </a:t>
            </a:r>
            <a:r>
              <a:rPr lang="en-ZA" dirty="0" err="1"/>
              <a:t>ItemsSource</a:t>
            </a:r>
            <a:r>
              <a:rPr lang="en-ZA" dirty="0"/>
              <a:t> property of the </a:t>
            </a:r>
            <a:r>
              <a:rPr lang="en-ZA" dirty="0" err="1"/>
              <a:t>ListBox</a:t>
            </a:r>
            <a:r>
              <a:rPr lang="en-ZA" dirty="0"/>
              <a:t> to null.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Immediately reassigns the </a:t>
            </a:r>
            <a:r>
              <a:rPr lang="en-ZA" dirty="0" err="1"/>
              <a:t>ItemsSource</a:t>
            </a:r>
            <a:r>
              <a:rPr lang="en-ZA" dirty="0"/>
              <a:t> to the updated collection.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Forces the WPF framework to re-render the collection.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7" name="Video 6">
            <a:hlinkClick r:id="" action="ppaction://media"/>
            <a:extLst>
              <a:ext uri="{FF2B5EF4-FFF2-40B4-BE49-F238E27FC236}">
                <a16:creationId xmlns:a16="http://schemas.microsoft.com/office/drawing/2014/main" id="{5464E081-2592-E0E7-3636-F6570DC08F8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665116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208"/>
    </mc:Choice>
    <mc:Fallback>
      <p:transition spd="slow" advTm="272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755A5-F3D9-A752-1710-83DDB514F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ZA" dirty="0"/>
              <a:t>Managing Quiz Flow and State</a:t>
            </a:r>
            <a:endParaRPr lang="en-US" sz="54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554AB37-943F-0F5C-D38E-99726F5301A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70" r="1" b="877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C578E-DADE-09DC-EBE3-7C5281C3D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Maps the user's string input ("A") to an integer index (0) using a switch expression.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Compares the index to the </a:t>
            </a:r>
            <a:r>
              <a:rPr lang="en-ZA" dirty="0" err="1"/>
              <a:t>CorrectAnswer</a:t>
            </a:r>
            <a:r>
              <a:rPr lang="en-ZA" dirty="0"/>
              <a:t> property of the current question.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Increments the </a:t>
            </a:r>
            <a:r>
              <a:rPr lang="en-ZA" dirty="0" err="1"/>
              <a:t>QuizScore</a:t>
            </a:r>
            <a:r>
              <a:rPr lang="en-ZA" dirty="0"/>
              <a:t> if matched.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Logs the result to the activity tracker.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7" name="Video 6">
            <a:hlinkClick r:id="" action="ppaction://media"/>
            <a:extLst>
              <a:ext uri="{FF2B5EF4-FFF2-40B4-BE49-F238E27FC236}">
                <a16:creationId xmlns:a16="http://schemas.microsoft.com/office/drawing/2014/main" id="{65145E8E-4589-38FF-31AE-1BE403B50F8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6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83395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718"/>
    </mc:Choice>
    <mc:Fallback>
      <p:transition spd="slow" advTm="227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EEEBD-31BB-6A00-6B2F-4BBDBD25E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ZA" dirty="0"/>
              <a:t>Activity Tracking &amp; Audit Trail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99723-F3EC-53F4-3E14-6E928BE49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Creates a new </a:t>
            </a:r>
            <a:r>
              <a:rPr lang="en-ZA" dirty="0" err="1"/>
              <a:t>ActivityLog</a:t>
            </a:r>
            <a:r>
              <a:rPr lang="en-ZA" dirty="0"/>
              <a:t> object with the current </a:t>
            </a:r>
            <a:r>
              <a:rPr lang="en-ZA" dirty="0" err="1"/>
              <a:t>DateTime.Now</a:t>
            </a:r>
            <a:r>
              <a:rPr lang="en-ZA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Adds the object to the </a:t>
            </a:r>
            <a:r>
              <a:rPr lang="en-ZA" dirty="0" err="1"/>
              <a:t>ActivityLogs</a:t>
            </a:r>
            <a:r>
              <a:rPr lang="en-ZA" dirty="0"/>
              <a:t> list.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Checks the list count; if it exceeds 50, it removes the oldest item.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1462DAE-14FE-AE4E-DF04-04CAB3F1962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" r="5806"/>
          <a:stretch>
            <a:fillRect/>
          </a:stretch>
        </p:blipFill>
        <p:spPr>
          <a:xfrm>
            <a:off x="6099048" y="1275071"/>
            <a:ext cx="5458968" cy="4307858"/>
          </a:xfrm>
          <a:prstGeom prst="rect">
            <a:avLst/>
          </a:prstGeom>
        </p:spPr>
      </p:pic>
      <p:pic>
        <p:nvPicPr>
          <p:cNvPr id="7" name="Video 6">
            <a:hlinkClick r:id="" action="ppaction://media"/>
            <a:extLst>
              <a:ext uri="{FF2B5EF4-FFF2-40B4-BE49-F238E27FC236}">
                <a16:creationId xmlns:a16="http://schemas.microsoft.com/office/drawing/2014/main" id="{A603BD37-2B5B-DF43-23F2-3605D96AB34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11908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565"/>
    </mc:Choice>
    <mc:Fallback>
      <p:transition spd="slow" advTm="225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365</Words>
  <Application>Microsoft Office PowerPoint</Application>
  <PresentationFormat>Widescreen</PresentationFormat>
  <Paragraphs>39</Paragraphs>
  <Slides>9</Slides>
  <Notes>1</Notes>
  <HiddenSlides>0</HiddenSlides>
  <MMClips>9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Cybersecurity Awareness Chatbot</vt:lpstr>
      <vt:lpstr>The Speech Synthesis Queue</vt:lpstr>
      <vt:lpstr>Capturing and Routing User Input</vt:lpstr>
      <vt:lpstr>Natural Language Processing Router</vt:lpstr>
      <vt:lpstr>Keyword Detection &amp; Sentiment Analysis</vt:lpstr>
      <vt:lpstr>Maintaining Short-Term Memory</vt:lpstr>
      <vt:lpstr>Forcing UI Updates in WPF</vt:lpstr>
      <vt:lpstr>Managing Quiz Flow and State</vt:lpstr>
      <vt:lpstr>Activity Tracking &amp; Audit Trail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Boikanyo Pearl Maleka</dc:creator>
  <cp:lastModifiedBy>Boikanyo Pearl Maleka</cp:lastModifiedBy>
  <cp:revision>2</cp:revision>
  <dcterms:created xsi:type="dcterms:W3CDTF">2026-06-24T17:02:12Z</dcterms:created>
  <dcterms:modified xsi:type="dcterms:W3CDTF">2026-06-25T16:19:12Z</dcterms:modified>
</cp:coreProperties>
</file>